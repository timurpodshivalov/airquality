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6C75-3DBB-487B-A609-A2433D2CDA8A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8CD66-DE45-4289-B9B3-B279B22342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58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8CD66-DE45-4289-B9B3-B279B22342E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43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74401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40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116226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56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4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99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3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18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402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08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10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8ECB18A-F92A-44C7-8A9A-76AA764C5DA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5C46C21-D06F-4B71-9016-49F6555307C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392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6A298-BEC3-DFD6-0087-39FD973B5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6997" y="2810933"/>
            <a:ext cx="8338005" cy="1236133"/>
          </a:xfrm>
        </p:spPr>
        <p:txBody>
          <a:bodyPr>
            <a:normAutofit fontScale="90000"/>
          </a:bodyPr>
          <a:lstStyle/>
          <a:p>
            <a:pPr algn="l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качества воздуха в Москве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51416A-BCE3-723B-2CF8-B060EC1B9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734" y="5977466"/>
            <a:ext cx="2743200" cy="533400"/>
          </a:xfrm>
        </p:spPr>
        <p:txBody>
          <a:bodyPr>
            <a:no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Подшивалов Т.Р.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Леончук Д.Ю.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Яковлев М.О. </a:t>
            </a:r>
          </a:p>
        </p:txBody>
      </p:sp>
    </p:spTree>
    <p:extLst>
      <p:ext uri="{BB962C8B-B14F-4D97-AF65-F5344CB8AC3E}">
        <p14:creationId xmlns:p14="http://schemas.microsoft.com/office/powerpoint/2010/main" val="198323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91C87-E8E0-FA7F-1A39-D5B34263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266267" cy="711200"/>
          </a:xfrm>
        </p:spPr>
        <p:txBody>
          <a:bodyPr>
            <a:normAutofit fontScale="900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9E9330-1732-20BC-B2CA-804F9749F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25599"/>
            <a:ext cx="9601200" cy="514773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атмосферного воздуха – ключевой показатель экологического благополучия и здоровья населения мегаполиса.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как крупнейший транспортный, промышленный и энергетический центр России сталкивается со значительной антропогенной нагрузкой.</a:t>
            </a:r>
          </a:p>
          <a:p>
            <a:pPr algn="just">
              <a:lnSpc>
                <a:spcPct val="10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провести комплексный анализ качества воздуха в Москве с применением методов Data Science для оценки текущей ситуации и прогнозирования.</a:t>
            </a:r>
          </a:p>
          <a:p>
            <a:pPr algn="just">
              <a:lnSpc>
                <a:spcPct val="10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и обработать многолетние данные о концентрациях ключевых загрязняющих веществ.</a:t>
            </a:r>
          </a:p>
          <a:p>
            <a:pPr lvl="1" algn="just">
              <a:lnSpc>
                <a:spcPct val="100000"/>
              </a:lnSpc>
            </a:pP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прогнозную модель и дать рекомендации для улучшения ситуации.</a:t>
            </a:r>
          </a:p>
          <a:p>
            <a:pPr algn="just">
              <a:lnSpc>
                <a:spcPct val="10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73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A7C332-60E4-01F2-7D23-4BCABBBF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371600"/>
          </a:xfrm>
        </p:spPr>
        <p:txBody>
          <a:bodyPr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данных и аналитические 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488E3-E244-E373-40BC-75C5CCB5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57400"/>
            <a:ext cx="9601200" cy="4521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исторические данные за 2014–202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гг. получены через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 Quality 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Анализируемые показатели: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PM2.5, PM10, CO, CO₂, NO₂, SO₂, O₃, пыль, метан, аэрозоли.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 (основной язык анализа).</a:t>
            </a:r>
          </a:p>
          <a:p>
            <a:pPr lvl="1" algn="just"/>
            <a:r>
              <a:rPr lang="ru-RU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обработка и очистка данных.</a:t>
            </a:r>
          </a:p>
          <a:p>
            <a:pPr lvl="1" algn="just"/>
            <a:r>
              <a:rPr lang="ru-RU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машинное обучение.</a:t>
            </a:r>
          </a:p>
          <a:p>
            <a:pPr lvl="1" algn="just"/>
            <a:r>
              <a:rPr lang="ru-RU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визуализация результатов.</a:t>
            </a:r>
          </a:p>
          <a:p>
            <a:pPr lvl="1" algn="just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статистических графиков</a:t>
            </a:r>
            <a:r>
              <a:rPr lang="en-US" i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Применённые методы: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 (K-</a:t>
            </a:r>
            <a:r>
              <a:rPr lang="ru-RU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выявление типичных сценариев загрязнения.</a:t>
            </a:r>
          </a:p>
          <a:p>
            <a:pPr lvl="1" algn="just"/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(</a:t>
            </a:r>
            <a:r>
              <a:rPr lang="ru-RU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моделирование будущих концентраций.</a:t>
            </a:r>
          </a:p>
          <a:p>
            <a:pPr lvl="1" algn="just"/>
            <a:r>
              <a:rPr lang="ru-RU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(k-NN):</a:t>
            </a:r>
            <a:r>
              <a:rPr lang="ru-RU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оценка уровня опасности по PM2.5.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51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24D9F-8B8A-CF59-C4F4-5242F0E4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Расшифровка основных загрязняющих веществ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AE232F-3C0D-ACC7-C0A4-5293BF65F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72733"/>
            <a:ext cx="9601200" cy="4724399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/ PM10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мелкая пыль и сажа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0,0025 мм и 0,001 мм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от машин, заводов, печей. Главная угроза для лёгких и сердца.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NO₂ (диоксид азота)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газ от выхлопных труб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ТЭЦ. Вызывает смог и проблемы с дыханием.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SO₂ (диоксид серы)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газ от сжигания угля/мазута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(ТЭЦ, старые котельные). Виновник кислотных дождей.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(угарный газ)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ядовитый газ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 плохом сгорании топлива (пробки, печки).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O₃ (приземный озон)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вредный смог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образуется из выхлопных газов на солнце.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и CH₄ (метан)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парниковые газы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виновные в изменении климата. Источники: сжигание топлива и утечки газа.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Пыль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крупные частицы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 строек и дорог.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Аэрозоли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показатель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запылённости атмосферы (включает PM, сажу, соли).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58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9656F-8504-1A25-6C88-5333ED11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179" y="221115"/>
            <a:ext cx="9601200" cy="1515533"/>
          </a:xfrm>
        </p:spPr>
        <p:txBody>
          <a:bodyPr>
            <a:noAutofit/>
          </a:bodyPr>
          <a:lstStyle/>
          <a:p>
            <a:pPr algn="just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типичных сценариев загрязнения по взвешенным частицам (PM)</a:t>
            </a:r>
          </a:p>
        </p:txBody>
      </p:sp>
      <p:pic>
        <p:nvPicPr>
          <p:cNvPr id="5" name="Рисунок 4" descr="Изображение выглядит как текст, снимок экрана, дисплей, линия">
            <a:extLst>
              <a:ext uri="{FF2B5EF4-FFF2-40B4-BE49-F238E27FC236}">
                <a16:creationId xmlns:a16="http://schemas.microsoft.com/office/drawing/2014/main" id="{02812B25-D6CB-C935-603D-F55B1D8D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280" y="1659649"/>
            <a:ext cx="2720471" cy="2437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B4CD68-DA7E-67FC-73E3-EF348BA53E26}"/>
              </a:ext>
            </a:extLst>
          </p:cNvPr>
          <p:cNvSpPr txBox="1"/>
          <p:nvPr/>
        </p:nvSpPr>
        <p:spPr>
          <a:xfrm>
            <a:off x="972603" y="2439817"/>
            <a:ext cx="6300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локтя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применён для определения оптимального числа групп (кластеров) на основе данных PM2.5 и PM10.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3E3EB-8D87-4F8C-4BB5-E62BA4EFAA5F}"/>
              </a:ext>
            </a:extLst>
          </p:cNvPr>
          <p:cNvSpPr txBox="1"/>
          <p:nvPr/>
        </p:nvSpPr>
        <p:spPr>
          <a:xfrm>
            <a:off x="972602" y="3156192"/>
            <a:ext cx="63002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графике виден явный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«излом» (локоть)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 небольшом числе кластеров (например,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10-15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Это означает, что дальнейшее увеличение их количества не даёт значимого улучшения в группировке данных.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99C42-52C7-71EA-F46B-0B94D8DAECD0}"/>
              </a:ext>
            </a:extLst>
          </p:cNvPr>
          <p:cNvSpPr txBox="1"/>
          <p:nvPr/>
        </p:nvSpPr>
        <p:spPr>
          <a:xfrm>
            <a:off x="972602" y="4426565"/>
            <a:ext cx="6300265" cy="255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Временные периоды в Москве можно разделить на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10-15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основных типа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 уровню загрязнения взвешенными частицами. Это позволяет выделить: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Периоды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нормального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фонового уровня</a:t>
            </a:r>
            <a:r>
              <a:rPr lang="en-US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Периоды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повышенной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нагрузки (возможно, связанные с погодными условиями или сезонностью).</a:t>
            </a:r>
            <a:endParaRPr lang="en-US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Периоды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критического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загрязнения (требующие оперативного реагирования).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41B081-DD5E-4EE5-A41E-E5F74BB88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196" y="4284846"/>
            <a:ext cx="2714555" cy="235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4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30C16-F81F-9E9A-563B-93A7E2F1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0269"/>
            <a:ext cx="9601200" cy="1485900"/>
          </a:xfrm>
        </p:spPr>
        <p:txBody>
          <a:bodyPr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превышений предельно допустимых концентраций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2E6968-56F7-8C04-97E0-143318B9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6983"/>
            <a:ext cx="8805333" cy="77893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агрегированных данных были рассчитаны средние и максимальные концентрации.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7303E-58EB-C24A-B84D-D215FC36BB93}"/>
              </a:ext>
            </a:extLst>
          </p:cNvPr>
          <p:cNvSpPr txBox="1"/>
          <p:nvPr/>
        </p:nvSpPr>
        <p:spPr>
          <a:xfrm>
            <a:off x="1443317" y="2690061"/>
            <a:ext cx="8475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проблемными веществами для Москвы традиционно являются: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BD6DB-9965-8F0D-5A38-AAB66C23194A}"/>
              </a:ext>
            </a:extLst>
          </p:cNvPr>
          <p:cNvSpPr txBox="1"/>
          <p:nvPr/>
        </p:nvSpPr>
        <p:spPr>
          <a:xfrm>
            <a:off x="1737159" y="3184547"/>
            <a:ext cx="9979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Взвешенные частицы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PM2.5/PM10)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ровень часто превышает рекомендации ВОЗ, особенно в отопительный сезон (При норме в 25 мкг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м³ достигает значений выше 200 мкг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м³). 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Диоксид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ахота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₂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егулярно высокие значения, особенно в дневные часы и в периоды интенсивного движения транспорта.(Часто превышает 60–80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мкг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м³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при норме ВОЗ 25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мкг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м³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3BAAA-F5A6-4078-927E-9CC934213150}"/>
              </a:ext>
            </a:extLst>
          </p:cNvPr>
          <p:cNvSpPr txBox="1"/>
          <p:nvPr/>
        </p:nvSpPr>
        <p:spPr>
          <a:xfrm>
            <a:off x="1443318" y="4575258"/>
            <a:ext cx="873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3F1DA-153C-4805-B798-F215DE30CC71}"/>
              </a:ext>
            </a:extLst>
          </p:cNvPr>
          <p:cNvSpPr txBox="1"/>
          <p:nvPr/>
        </p:nvSpPr>
        <p:spPr>
          <a:xfrm>
            <a:off x="1717239" y="5036923"/>
            <a:ext cx="100713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Повышенное содержание частиц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повышает риск развития сердечно-сосудистых заболеваний.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Частицы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проникают вглубь организма, а задерживаются на слизистых оболочках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вызывая раздражение дыхательных путей и аллергии.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Загрязнение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₂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вызывает у людей воспаление дыхательных путей и может вызвать развитие астмы.</a:t>
            </a:r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9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AF05C-C3A3-4E5A-FBDF-6B54543F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596900"/>
            <a:ext cx="9601200" cy="14859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прогнозирования на основе алгоритма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3F4602-F153-B889-40A3-460D9BBC7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81200"/>
            <a:ext cx="5842000" cy="12121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обучена ансамблевая модель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прогнозирования концентраций 12 ключевых загрязняющих веществ на 30 дней вперёд.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18878A-10E9-DF4D-BDCD-2806BCC3B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540" y="1879599"/>
            <a:ext cx="4968332" cy="4665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2BC593-22EE-7DE5-1551-DC828A7DC268}"/>
              </a:ext>
            </a:extLst>
          </p:cNvPr>
          <p:cNvSpPr txBox="1"/>
          <p:nvPr/>
        </p:nvSpPr>
        <p:spPr>
          <a:xfrm>
            <a:off x="959703" y="3329230"/>
            <a:ext cx="59266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Оценено с помощью метрики MAE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Для большинства параметров ошибка прогноза составила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менее 20% от среднего значения, что является хорошим результатом для экологических данных.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97945-B6F8-53AC-ADB8-9C123A08023D}"/>
              </a:ext>
            </a:extLst>
          </p:cNvPr>
          <p:cNvSpPr txBox="1"/>
          <p:nvPr/>
        </p:nvSpPr>
        <p:spPr>
          <a:xfrm>
            <a:off x="959703" y="4960446"/>
            <a:ext cx="5842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spcAft>
                <a:spcPts val="600"/>
              </a:spcAft>
            </a:pP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инсайты прогноза:</a:t>
            </a:r>
            <a:endParaRPr lang="ru-RU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spcBef>
                <a:spcPts val="300"/>
              </a:spcBef>
              <a:buFont typeface="+mj-lt"/>
              <a:buAutoNum type="arabicPeriod"/>
            </a:pPr>
            <a:r>
              <a:rPr lang="ru-RU" sz="1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Прогнозируется 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сезонный рост</a:t>
            </a:r>
            <a:r>
              <a:rPr lang="ru-RU" sz="1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концентраций PM2.5 и CO в осенне-зимний период.</a:t>
            </a:r>
            <a:endParaRPr lang="en-US" sz="16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spcBef>
                <a:spcPts val="300"/>
              </a:spcBef>
              <a:buFont typeface="+mj-lt"/>
              <a:buAutoNum type="arabicPeriod"/>
            </a:pP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Озон (O₃)</a:t>
            </a:r>
            <a:r>
              <a:rPr lang="ru-RU" sz="1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может показывать рост в летние солнечные дни.</a:t>
            </a:r>
          </a:p>
        </p:txBody>
      </p:sp>
    </p:spTree>
    <p:extLst>
      <p:ext uri="{BB962C8B-B14F-4D97-AF65-F5344CB8AC3E}">
        <p14:creationId xmlns:p14="http://schemas.microsoft.com/office/powerpoint/2010/main" val="382320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4D9DE6-EAB5-D127-D799-C5E1FF13EE6B}"/>
              </a:ext>
            </a:extLst>
          </p:cNvPr>
          <p:cNvSpPr/>
          <p:nvPr/>
        </p:nvSpPr>
        <p:spPr>
          <a:xfrm>
            <a:off x="965201" y="2146759"/>
            <a:ext cx="11049000" cy="98636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7FD83-5366-C178-A365-241FEA6F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573846"/>
            <a:ext cx="10371666" cy="1485900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лучшее для прогноза воздуха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C8AAE-2E91-EB45-29C9-5D514495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33" y="2456965"/>
            <a:ext cx="2726266" cy="3659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Ловит сложные связи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993F6-2093-5862-D5E9-B632F908F8CB}"/>
              </a:ext>
            </a:extLst>
          </p:cNvPr>
          <p:cNvSpPr txBox="1"/>
          <p:nvPr/>
        </p:nvSpPr>
        <p:spPr>
          <a:xfrm>
            <a:off x="6489701" y="2285999"/>
            <a:ext cx="52493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Строит 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сотни деревьев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вместе видят неочевидные закономерности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B8CF34D-0542-4A0F-7E4D-34A88A0B5087}"/>
              </a:ext>
            </a:extLst>
          </p:cNvPr>
          <p:cNvSpPr/>
          <p:nvPr/>
        </p:nvSpPr>
        <p:spPr>
          <a:xfrm>
            <a:off x="965201" y="3272366"/>
            <a:ext cx="11049000" cy="98636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51BE4AC4-66FF-78A7-7551-03E74EA98661}"/>
              </a:ext>
            </a:extLst>
          </p:cNvPr>
          <p:cNvSpPr txBox="1">
            <a:spLocks/>
          </p:cNvSpPr>
          <p:nvPr/>
        </p:nvSpPr>
        <p:spPr>
          <a:xfrm>
            <a:off x="1168401" y="3569642"/>
            <a:ext cx="3310466" cy="391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Игнорирует сбои датчиков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58FBA-B6F7-6BA4-F02E-F37029C123F9}"/>
              </a:ext>
            </a:extLst>
          </p:cNvPr>
          <p:cNvSpPr txBox="1"/>
          <p:nvPr/>
        </p:nvSpPr>
        <p:spPr>
          <a:xfrm>
            <a:off x="6489701" y="3411606"/>
            <a:ext cx="52493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Усредняет прогнозы, поэтому одиночные ошибки данных не портят общий результат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89EC745-DA0A-55D1-4D75-F67C886AF59C}"/>
              </a:ext>
            </a:extLst>
          </p:cNvPr>
          <p:cNvSpPr/>
          <p:nvPr/>
        </p:nvSpPr>
        <p:spPr>
          <a:xfrm>
            <a:off x="965201" y="4397973"/>
            <a:ext cx="11049000" cy="98636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601A5C2-8995-89C7-0CBF-D3E964402FFD}"/>
              </a:ext>
            </a:extLst>
          </p:cNvPr>
          <p:cNvSpPr txBox="1">
            <a:spLocks/>
          </p:cNvSpPr>
          <p:nvPr/>
        </p:nvSpPr>
        <p:spPr>
          <a:xfrm>
            <a:off x="1168401" y="4695249"/>
            <a:ext cx="2518834" cy="391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 важное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6BC70-3EA8-7032-2537-7AFB49476288}"/>
              </a:ext>
            </a:extLst>
          </p:cNvPr>
          <p:cNvSpPr txBox="1"/>
          <p:nvPr/>
        </p:nvSpPr>
        <p:spPr>
          <a:xfrm>
            <a:off x="6489700" y="4537213"/>
            <a:ext cx="52493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 ранжирует параметры (например, что для PM2.5 важнее: NO₂ или время суток)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F027436-D585-593C-1F79-8501C423DCAB}"/>
              </a:ext>
            </a:extLst>
          </p:cNvPr>
          <p:cNvSpPr/>
          <p:nvPr/>
        </p:nvSpPr>
        <p:spPr>
          <a:xfrm>
            <a:off x="965201" y="5523580"/>
            <a:ext cx="11049000" cy="98636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F656E15-3D59-DC05-6A3B-4BD48A6594FA}"/>
              </a:ext>
            </a:extLst>
          </p:cNvPr>
          <p:cNvSpPr txBox="1">
            <a:spLocks/>
          </p:cNvSpPr>
          <p:nvPr/>
        </p:nvSpPr>
        <p:spPr>
          <a:xfrm>
            <a:off x="1274233" y="5820856"/>
            <a:ext cx="2518833" cy="391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 важное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B7BE90-D882-344E-A940-0F3A0CDF4BAA}"/>
              </a:ext>
            </a:extLst>
          </p:cNvPr>
          <p:cNvSpPr txBox="1"/>
          <p:nvPr/>
        </p:nvSpPr>
        <p:spPr>
          <a:xfrm>
            <a:off x="6417734" y="5662820"/>
            <a:ext cx="52493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деревьев на случайных данных даёт стабильный прогноз на будущее</a:t>
            </a:r>
          </a:p>
        </p:txBody>
      </p:sp>
    </p:spTree>
    <p:extLst>
      <p:ext uri="{BB962C8B-B14F-4D97-AF65-F5344CB8AC3E}">
        <p14:creationId xmlns:p14="http://schemas.microsoft.com/office/powerpoint/2010/main" val="1252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D4AD6-4F6D-2315-D5A2-B3BF3A13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автоматической оценки уровня риска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DC6679-E930-C47B-D7E1-642E4EBD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757333" cy="92286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оперативной оценки была создана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классификационная модель (k-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Nearest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88234F3-AC8D-E2F4-0B0B-18E7DE4A8BFA}"/>
              </a:ext>
            </a:extLst>
          </p:cNvPr>
          <p:cNvSpPr txBox="1">
            <a:spLocks/>
          </p:cNvSpPr>
          <p:nvPr/>
        </p:nvSpPr>
        <p:spPr>
          <a:xfrm>
            <a:off x="1371600" y="3323167"/>
            <a:ext cx="5757333" cy="1562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 основе комплекса данных (NO₂, CO, O₃ и др.) быстро определить, является ли текущий уровень PM2.5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выше среднего (опасным)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или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ниже/на среднем уровне (приемлемым)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A3E8E95-2C66-1996-D2E8-7091B194CDE2}"/>
              </a:ext>
            </a:extLst>
          </p:cNvPr>
          <p:cNvSpPr txBox="1">
            <a:spLocks/>
          </p:cNvSpPr>
          <p:nvPr/>
        </p:nvSpPr>
        <p:spPr>
          <a:xfrm>
            <a:off x="1371600" y="4999567"/>
            <a:ext cx="5757333" cy="1325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показала высокую точность (&gt;90%) в тестовых данных, что подтверждает сильную корреляцию между различными загрязнителями.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349DD65-7B89-0B01-7E9A-23148E78EC9A}"/>
              </a:ext>
            </a:extLst>
          </p:cNvPr>
          <p:cNvSpPr txBox="1">
            <a:spLocks/>
          </p:cNvSpPr>
          <p:nvPr/>
        </p:nvSpPr>
        <p:spPr>
          <a:xfrm>
            <a:off x="8444170" y="3429000"/>
            <a:ext cx="2528630" cy="62290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A09D30D-C5BE-4A5C-A558-6C94D354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07" y="4534074"/>
            <a:ext cx="3051194" cy="15502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B46E689-C455-4458-8E74-31A7761EE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821" y="1966489"/>
            <a:ext cx="4813327" cy="208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45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D952B-AA1D-FC7B-7243-6736BF8D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1" y="223886"/>
            <a:ext cx="9601200" cy="14859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возможных причин загрязнения воздуха по часам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днях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снимок экрана, текст, линия, График">
            <a:extLst>
              <a:ext uri="{FF2B5EF4-FFF2-40B4-BE49-F238E27FC236}">
                <a16:creationId xmlns:a16="http://schemas.microsoft.com/office/drawing/2014/main" id="{C158A292-1B0D-BB5A-4162-5A4FE534B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7" y="1794033"/>
            <a:ext cx="8212667" cy="453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8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003F4E6-8785-98B9-001C-56D4CA67A472}"/>
              </a:ext>
            </a:extLst>
          </p:cNvPr>
          <p:cNvSpPr/>
          <p:nvPr/>
        </p:nvSpPr>
        <p:spPr>
          <a:xfrm>
            <a:off x="2378768" y="4677004"/>
            <a:ext cx="7535333" cy="165553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14AD000-0F08-3E7D-09EE-71C9E218A697}"/>
              </a:ext>
            </a:extLst>
          </p:cNvPr>
          <p:cNvSpPr/>
          <p:nvPr/>
        </p:nvSpPr>
        <p:spPr>
          <a:xfrm>
            <a:off x="2378768" y="2873164"/>
            <a:ext cx="7535333" cy="165553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43F787D-F20E-4BE1-678D-CFC3490E01DE}"/>
              </a:ext>
            </a:extLst>
          </p:cNvPr>
          <p:cNvSpPr/>
          <p:nvPr/>
        </p:nvSpPr>
        <p:spPr>
          <a:xfrm>
            <a:off x="2378770" y="949418"/>
            <a:ext cx="7535333" cy="177544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A78AA-6674-7B0F-8B66-ACEB9E4D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6" y="182033"/>
            <a:ext cx="11218333" cy="125518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Целевые меры для снижения загрязнения воздуха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D2B0D-18A9-2E06-4392-AF655CB5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9853" y="1019267"/>
            <a:ext cx="7137400" cy="170559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Транспортный сектор (борьба с NO₂ и PM):</a:t>
            </a: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Ускоренное обновление общественного транспорта на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электротягу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зарядной инфраструктуры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электромобилей.</a:t>
            </a:r>
            <a:endParaRPr lang="en-US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зон с ограничением выбросов (</a:t>
            </a:r>
            <a:r>
              <a:rPr lang="ru-RU" sz="16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Emission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Zone)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грузового транспорта в центре.</a:t>
            </a: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F1B1541-7D4A-6383-9374-5F70AB1ED4AA}"/>
              </a:ext>
            </a:extLst>
          </p:cNvPr>
          <p:cNvSpPr txBox="1">
            <a:spLocks/>
          </p:cNvSpPr>
          <p:nvPr/>
        </p:nvSpPr>
        <p:spPr>
          <a:xfrm>
            <a:off x="2579852" y="2978161"/>
            <a:ext cx="7055214" cy="1441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Энергетика и ЖКХ (борьба с PM и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бенз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(а)пиреном):</a:t>
            </a: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Модернизация и перевод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районных котельных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 более экологичное топливо.</a:t>
            </a:r>
            <a:endParaRPr lang="en-US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энергоэффективности зданий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снижения потребности в отоплении.</a:t>
            </a: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6DBD02B-3D16-5D8E-2011-C67107B1FC14}"/>
              </a:ext>
            </a:extLst>
          </p:cNvPr>
          <p:cNvSpPr txBox="1">
            <a:spLocks/>
          </p:cNvSpPr>
          <p:nvPr/>
        </p:nvSpPr>
        <p:spPr>
          <a:xfrm>
            <a:off x="2510728" y="4758072"/>
            <a:ext cx="7206525" cy="1498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мониторинга и информирования: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публичной интерактивной карты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качества воздуха в реальном времени на основе данной модели.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системы </a:t>
            </a:r>
            <a:r>
              <a:rPr lang="ru-RU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СМС-оповещений</a:t>
            </a:r>
            <a:r>
              <a:rPr lang="ru-RU" sz="1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дней с прогнозируемым высоким уровнем загрязнения (особенно для групп риска).</a:t>
            </a:r>
          </a:p>
        </p:txBody>
      </p:sp>
    </p:spTree>
    <p:extLst>
      <p:ext uri="{BB962C8B-B14F-4D97-AF65-F5344CB8AC3E}">
        <p14:creationId xmlns:p14="http://schemas.microsoft.com/office/powerpoint/2010/main" val="3015471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B12B1-81BD-6C49-B0E2-41E1A5E5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562B4-CF2C-32C6-F4FA-9AA2588CDC39}"/>
              </a:ext>
            </a:extLst>
          </p:cNvPr>
          <p:cNvSpPr txBox="1"/>
          <p:nvPr/>
        </p:nvSpPr>
        <p:spPr>
          <a:xfrm>
            <a:off x="1371600" y="1676737"/>
            <a:ext cx="101411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подтверждают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устойчивую нагрузку на атмосферу Москвы, особенно по взвешенным частицам (PM) и диоксиду азота.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34704-9C51-6310-D61D-F33EC4E70BEA}"/>
              </a:ext>
            </a:extLst>
          </p:cNvPr>
          <p:cNvSpPr txBox="1"/>
          <p:nvPr/>
        </p:nvSpPr>
        <p:spPr>
          <a:xfrm>
            <a:off x="1371597" y="2485760"/>
            <a:ext cx="10141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Кластерный анализ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выявил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повторяющихся сценария загрязнения, что позволяет перейти от постоянного мониторинга к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управлению по состояниям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DEB61-ACF7-45EA-DED3-2B4AF9CB990D}"/>
              </a:ext>
            </a:extLst>
          </p:cNvPr>
          <p:cNvSpPr txBox="1"/>
          <p:nvPr/>
        </p:nvSpPr>
        <p:spPr>
          <a:xfrm>
            <a:off x="1371596" y="3294783"/>
            <a:ext cx="10141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Разработанные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ML-модели (прогнозирование и классификация)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показали высокую эффективность и готовы к внедрению в городские системы экологического контроля.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CEB08-6DC9-1A86-375B-EBFF057F1E05}"/>
              </a:ext>
            </a:extLst>
          </p:cNvPr>
          <p:cNvSpPr txBox="1"/>
          <p:nvPr/>
        </p:nvSpPr>
        <p:spPr>
          <a:xfrm>
            <a:off x="1371598" y="4103806"/>
            <a:ext cx="101411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 носят комплексный характер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нацелены на ключевые источники загрязнения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транспорт и энергетику.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CEF6BE-AB6E-117A-F85A-739C75D2D38B}"/>
              </a:ext>
            </a:extLst>
          </p:cNvPr>
          <p:cNvSpPr txBox="1"/>
          <p:nvPr/>
        </p:nvSpPr>
        <p:spPr>
          <a:xfrm>
            <a:off x="1371599" y="4912829"/>
            <a:ext cx="10141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позволяет перейти от констатации проблем к их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прогнозу и превентивному решению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92448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425</TotalTime>
  <Words>1061</Words>
  <Application>Microsoft Office PowerPoint</Application>
  <PresentationFormat>Широкоэкранный</PresentationFormat>
  <Paragraphs>85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Calibri</vt:lpstr>
      <vt:lpstr>Franklin Gothic Book</vt:lpstr>
      <vt:lpstr>Times New Roman</vt:lpstr>
      <vt:lpstr>Уголки</vt:lpstr>
      <vt:lpstr>Исследование качества воздуха в Москве</vt:lpstr>
      <vt:lpstr>Актуальность и задачи</vt:lpstr>
      <vt:lpstr>Источники данных и аналитические инструменты</vt:lpstr>
      <vt:lpstr>Расшифровка основных загрязняющих веществ</vt:lpstr>
      <vt:lpstr>Выявление типичных сценариев загрязнения по взвешенным частицам (PM)</vt:lpstr>
      <vt:lpstr>Оценка превышений предельно допустимых концентраций</vt:lpstr>
      <vt:lpstr>Модель прогнозирования на основе алгоритма Random Forest</vt:lpstr>
      <vt:lpstr>Random Forest лучшее для прогноза воздуха</vt:lpstr>
      <vt:lpstr>Модель автоматической оценки уровня риска</vt:lpstr>
      <vt:lpstr>Визуализация возможных причин загрязнения воздуха по часам/днях</vt:lpstr>
      <vt:lpstr>Целевые меры для снижения загрязнения воздуха</vt:lpstr>
      <vt:lpstr>Результаты исследования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качества воздуха в Москве</dc:title>
  <dc:creator>QummeW WwW</dc:creator>
  <cp:lastModifiedBy>QummeW WwW</cp:lastModifiedBy>
  <cp:revision>44</cp:revision>
  <dcterms:created xsi:type="dcterms:W3CDTF">2025-12-17T08:17:14Z</dcterms:created>
  <dcterms:modified xsi:type="dcterms:W3CDTF">2025-12-18T08:18:51Z</dcterms:modified>
</cp:coreProperties>
</file>